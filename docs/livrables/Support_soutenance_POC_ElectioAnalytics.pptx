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2880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</a:rPr>
              <a:t>POC Electio-Analytics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22960" y="2880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6DCF0"/>
                </a:solidFill>
              </a:rPr>
              <a:t>Prévision des tendances électorales par le machine learning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868680" y="365760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96 départements · 5 scrutins · holdout 2022 = 0,53 · pipeline ETL reproductible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5852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94C0"/>
                </a:solidFill>
              </a:rPr>
              <a:t>MSPR TPRE813 — Bloc 3 : Piloter l’informatique décisionnel d’un S.I (Big Data &amp; BI)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Plan de présentation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5448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5544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143000" y="155448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155448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Contexte &amp; périmètre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2359152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3591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143000" y="2359152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235915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Sources &amp; référentiel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40080" y="316382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6382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43000" y="316382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80160" y="316382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Architecture &amp; stack techno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40080" y="396849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96849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143000" y="396849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80160" y="396849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Pipeline ETL (diagramme)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477316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77316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1143000" y="477316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280160" y="47731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Modèle de données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40080" y="557784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57784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1143000" y="557784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280160" y="557784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Machine Learning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400800" y="1554480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4" name="Text 32"/>
          <p:cNvSpPr/>
          <p:nvPr/>
        </p:nvSpPr>
        <p:spPr>
          <a:xfrm>
            <a:off x="6400800" y="155448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903720" y="1554480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040880" y="1554480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Résultats &amp; accuracy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6400800" y="2359152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0" y="2359152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8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903720" y="2359152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40880" y="2359152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Qualité DQM &amp; Metabase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400800" y="3163824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0" y="3163824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9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03720" y="3163824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40880" y="3163824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Visualisations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400800" y="3968496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46" name="Text 44"/>
          <p:cNvSpPr/>
          <p:nvPr/>
        </p:nvSpPr>
        <p:spPr>
          <a:xfrm>
            <a:off x="6400800" y="3968496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903720" y="3968496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040880" y="3968496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RGPD &amp; Sécurité</a:t>
            </a:r>
            <a:endParaRPr lang="en-US" sz="1500" dirty="0"/>
          </a:p>
        </p:txBody>
      </p:sp>
      <p:sp>
        <p:nvSpPr>
          <p:cNvPr id="49" name="Shape 47"/>
          <p:cNvSpPr/>
          <p:nvPr/>
        </p:nvSpPr>
        <p:spPr>
          <a:xfrm>
            <a:off x="6400800" y="4773168"/>
            <a:ext cx="502920" cy="65836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50" name="Text 48"/>
          <p:cNvSpPr/>
          <p:nvPr/>
        </p:nvSpPr>
        <p:spPr>
          <a:xfrm>
            <a:off x="6400800" y="4773168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11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903720" y="4773168"/>
            <a:ext cx="4297680" cy="658368"/>
          </a:xfrm>
          <a:prstGeom prst="rect">
            <a:avLst/>
          </a:prstGeom>
          <a:solidFill>
            <a:srgbClr val="F2F3F7"/>
          </a:solidFill>
          <a:ln w="12700">
            <a:solidFill>
              <a:srgbClr val="1B2A5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40880" y="4773168"/>
            <a:ext cx="4114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5E"/>
                </a:solidFill>
              </a:rPr>
              <a:t>Limites &amp; améliorations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Contexte &amp; périmètre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Besoin client et cadrage du POC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Besoin client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Anticiper les tendances électorales à 1–3 ans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À partir d’indicateurs socio-économiques publics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Preuve de concept avant investissement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Périmètre retenu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96 départements métropolitains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5 scrutins présidentiels (2002–2022)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480 lignes GOLD · 384 obs. ML (avec lag)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Maille unique = jointures fiables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0020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2821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Critères de succès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194560"/>
            <a:ext cx="3209544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Holdout 2022 &gt; 0,5 → atteint (0,53)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Pipeline automatisé et reproductible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Livrables SQL / CSV / notebook / viz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Conformité RGPD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Sources &amp; référentiel de données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Contrats Bronze + Licence Ouverte v2.0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08760"/>
          <a:ext cx="11201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46120"/>
                <a:gridCol w="2011680"/>
                <a:gridCol w="27432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Contenu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Granularité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Utilisée pour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data.gouv.fr — Présidentielles T1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Résultats → 5 blocs politiques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Département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Variable cible + lag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Chômage localisé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Taux trimestriel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Chômage N-1, delta 5 ans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Emploi salarié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Emploi total trimestriel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(trim.)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Emploi/1000 hab, croissance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Population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Population annuelle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Normalisation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Pauvreté (Filosofi)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Taux de pauvreté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BI / GOLD (40 % N-1)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INSEE — Créations d’entreprises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Créations pour 10k hab.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Dépt. (annuel)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Dynamisme économique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02920" y="4754880"/>
            <a:ext cx="11201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Référentiel : etl/referentiels.py + docs/mspr/03_donnees/REFERENTIEL_DONNEES.md — schémas Bronze, 96 dépts, régions, blocs.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5212080"/>
            <a:ext cx="11201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Pauvreté N−1 : 40 % de complétude GOLD (2017 &amp; 2022, Filosofi historique) — hors features ML (fuite / couverture).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02920" y="580644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B2A5E"/>
                </a:solidFill>
              </a:rPr>
              <a:t>✓ Toutes les sources sous Licence Ouverte v2.0 · Aucune donnée personnelle · Agrégation départementale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julie\Documents\mspr-rattrapage\docs\mspr\02_architecture\diagrams\archi_techno_elect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Pipeline ETL — diagramme de flux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Architecture médailon RAW → Bronze → Silver → Gold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docs\mspr\02_architecture\diagrams\flux_etl_medaill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417320"/>
            <a:ext cx="114300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Couches médailon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Rôles Bronze / Silver / Gold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B87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solidFill>
            <a:srgbClr val="B87333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BRONZE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CSV bruts normalisés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Contrats + manifests JSON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Jamais modifiés après écriture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02336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466344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8A8D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solidFill>
            <a:srgbClr val="8A8D93"/>
          </a:solidFill>
          <a:ln/>
        </p:spPr>
      </p:sp>
      <p:sp>
        <p:nvSpPr>
          <p:cNvPr id="17" name="Text 15"/>
          <p:cNvSpPr/>
          <p:nvPr/>
        </p:nvSpPr>
        <p:spPr>
          <a:xfrm>
            <a:off x="466344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SILVER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89204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Typage + déduplication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DQM (16 contrôles)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Agrégats socioeco_annuel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001000" y="306324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2A5E"/>
                </a:solidFill>
              </a:rPr>
              <a:t>→</a:t>
            </a:r>
            <a:endParaRPr lang="en-US" sz="3400" dirty="0"/>
          </a:p>
        </p:txBody>
      </p:sp>
      <p:sp>
        <p:nvSpPr>
          <p:cNvPr id="20" name="Shape 18"/>
          <p:cNvSpPr/>
          <p:nvPr/>
        </p:nvSpPr>
        <p:spPr>
          <a:xfrm>
            <a:off x="8641080" y="1828800"/>
            <a:ext cx="3337560" cy="3200400"/>
          </a:xfrm>
          <a:prstGeom prst="roundRect">
            <a:avLst>
              <a:gd name="adj" fmla="val 2857"/>
            </a:avLst>
          </a:prstGeom>
          <a:solidFill>
            <a:srgbClr val="F2F3F7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641080" y="182880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GOLD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869680" y="2560320"/>
            <a:ext cx="288036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1 ligne = 1 (dépt, élection)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Features anti-leakage ≤ N−1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</a:rPr>
              <a:t>SQLite + KPI + Postgres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580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Orchestration : run_pipeline.py · tests pytest · suite DQM (dqm/run_checkpoint.py)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Modèle de données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Schéma en étoile — nommage explicite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Dimensions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dim_departement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dim_annee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dim_bloc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29768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Faits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884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fait_resultat_election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fait_chomage_trimestriel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fait_emploi_trimestriel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92440" y="1645920"/>
            <a:ext cx="3611880" cy="4023360"/>
          </a:xfrm>
          <a:prstGeom prst="roundRect">
            <a:avLst>
              <a:gd name="adj" fmla="val 2025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92440" y="1773936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Gold (analytique)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93608" y="2240280"/>
            <a:ext cx="3209544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gold_dataset_analytique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Dénormalisée pour ML &amp; BI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SQLite indexé : electio_poc.db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5852160"/>
            <a:ext cx="11201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B2A5E"/>
                </a:solidFill>
              </a:rPr>
              <a:t>480 lignes GOLD · 384 observations ML · référentiel partagé ETL / SQL / Metabase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Machine Learning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Classification supervisée du bloc en tête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Protocole rigoureux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Split temporel : holdout = scrutin 2022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Sélection : 0,4×walk-forward + 0,6×holdout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CV GroupKFold = métrique secondaire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Features ≤ N−1 (anti-leakage ETL)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5 modèles comparés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Baseline (classe majoritaire)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Régression logistique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Arbre de décision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Random Forest (fort en CV géo)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Gradient Boosting — retenu (temporel)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Résultats &amp; accuracy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Gradient Boosting — holdout 2022 = 0,53 (données réelles)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viz\output\6_model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45920"/>
            <a:ext cx="5852160" cy="3291840"/>
          </a:xfrm>
          <a:prstGeom prst="rect">
            <a:avLst/>
          </a:prstGeom>
        </p:spPr>
      </p:pic>
      <p:pic>
        <p:nvPicPr>
          <p:cNvPr id="11" name="Image 1" descr="C:\Users\julie\Documents\mspr-rattrapage\viz\output\5_confus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463040" y="5029200"/>
            <a:ext cx="3931920" cy="13716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583680" y="16459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F2F3F7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83680" y="17739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9A227"/>
                </a:solidFill>
              </a:rPr>
              <a:t>Chiffres figés (CHIFFRES_FIGES.md)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6784848" y="2240280"/>
            <a:ext cx="4718304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Holdout 2022 : 0,53 (&gt; 0,5)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Walk-forward : 0,37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CV géo secondaire : 0,72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Baseline CV : 0,41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Top feature : pct gagnant précédent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Pauvreté : 40 % GOLD, hors ML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Source : data/ml_report.json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Qualité DQM &amp; restitution Metabase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Suite DQM interne + BI jury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60020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72821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Suite DQM exécutable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194560"/>
            <a:ext cx="5084064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Module dqm/ — outil interne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Inspiré du pattern « expectations »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5 contrôles Silver/Gold exécutables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Pas de lib great_expectations installée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Complète pytest + quality_report.txt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make dqm → JSON + HTML de preuve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1600200"/>
            <a:ext cx="5486400" cy="4572000"/>
          </a:xfrm>
          <a:prstGeom prst="roundRect">
            <a:avLst>
              <a:gd name="adj" fmla="val 1600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728216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Metabase (profil Docker bi)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19088" y="2194560"/>
            <a:ext cx="5084064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docker compose --profile bi up -d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UI http://localhost:3000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Branche sur Gold / Postgres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Dashboards KPI &amp; exploration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Guide : docs/mspr/05_bi_restitution/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Complète Dash + FastAPI du POC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Visualisations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Exploration &amp; restitution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viz\output\1_evolution_blo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5486400" cy="3044952"/>
          </a:xfrm>
          <a:prstGeom prst="rect">
            <a:avLst/>
          </a:prstGeom>
        </p:spPr>
      </p:pic>
      <p:pic>
        <p:nvPicPr>
          <p:cNvPr id="11" name="Image 1" descr="C:\Users\julie\Documents\mspr-rattrapage\viz\output\3_correlatio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4572000" cy="3712464"/>
          </a:xfrm>
          <a:prstGeom prst="rect">
            <a:avLst/>
          </a:prstGeom>
        </p:spPr>
      </p:pic>
      <p:pic>
        <p:nvPicPr>
          <p:cNvPr id="12" name="Image 2" descr="C:\Users\julie\Documents\mspr-rattrapage\viz\output\4_chomage_par_blo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754880"/>
            <a:ext cx="4572000" cy="1737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Scale-out production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3327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66CC"/>
                </a:solidFill>
              </a:rPr>
              <a:t>Airflow + partitionnement Spark (cible)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8" name="Shape 6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9" name="Shape 7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pic>
        <p:nvPicPr>
          <p:cNvPr id="10" name="Image 0" descr="C:\Users\julie\Documents\mspr-rattrapage\docs\mspr\02_architecture\diagrams\scale_o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417320"/>
            <a:ext cx="100584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RGPD &amp; Sécurité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Conformité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Données publiques agrégées : aucune donnée personnelle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Aucun risque de ré-identification (maille dépt.)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Licence Ouverte v2.0 — sources mentionnées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1B2A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5E"/>
                </a:solidFill>
              </a:rPr>
              <a:t>Traçabilité &amp; bonnes pratiques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Couche BRONZE immuable + journal qualité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Tests automatisés + suite DQM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Extension opinion/réseaux sociaux → AIPD préalable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3" name="Text 1"/>
          <p:cNvSpPr/>
          <p:nvPr/>
        </p:nvSpPr>
        <p:spPr>
          <a:xfrm>
            <a:off x="11475720" y="256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292608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A5E"/>
                </a:solidFill>
              </a:rPr>
              <a:t>Limites &amp; axes d’amélioration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950976"/>
            <a:ext cx="82296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6565392"/>
            <a:ext cx="3931920" cy="64008"/>
          </a:xfrm>
          <a:prstGeom prst="rect">
            <a:avLst/>
          </a:prstGeom>
          <a:solidFill>
            <a:srgbClr val="1B2A5E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0" y="6565392"/>
            <a:ext cx="3383280" cy="64008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0" y="6565392"/>
            <a:ext cx="3931920" cy="64008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64592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E31B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773936"/>
            <a:ext cx="5440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31B23"/>
                </a:solidFill>
              </a:rPr>
              <a:t>Limites assumées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" y="2240280"/>
            <a:ext cx="503834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 socio-éco : ignore campagne &amp; offre politique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Capte des tendances de fond, pas l’issue exacte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POC = méthode + industrialisation démontrées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645920"/>
            <a:ext cx="5577840" cy="4206240"/>
          </a:xfrm>
          <a:prstGeom prst="roundRect">
            <a:avLst>
              <a:gd name="adj" fmla="val 1739"/>
            </a:avLst>
          </a:prstGeom>
          <a:solidFill>
            <a:srgbClr val="F2F3F7"/>
          </a:solidFill>
          <a:ln w="15875">
            <a:solidFill>
              <a:srgbClr val="0066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77393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6CC"/>
                </a:solidFill>
              </a:rPr>
              <a:t>Améliorations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27648" y="2240280"/>
            <a:ext cx="5175504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Enrichir : sécurité, démographie, infra-départemental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Modèles séquentiels + intervalles de confiance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</a:rPr>
              <a:t>Orchestration Airflow, Metabase en prod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74320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Merci — Questions 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68680" y="3749040"/>
            <a:ext cx="2011680" cy="54864"/>
          </a:xfrm>
          <a:prstGeom prst="rect">
            <a:avLst/>
          </a:prstGeom>
          <a:solidFill>
            <a:srgbClr val="E31B2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3977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D8"/>
                </a:solidFill>
              </a:rPr>
              <a:t>POC Electio-Analytics · MSPR TPRE813 · holdout 0,53 · DQM + Metabase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2026-09-08T12:59:01Z</dcterms:created>
  <dcterms:modified xsi:type="dcterms:W3CDTF">2026-09-08T12:59:01Z</dcterms:modified>
</cp:coreProperties>
</file>