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POC Electio-Analytics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6DCF0"/>
                </a:solidFill>
              </a:rPr>
              <a:t>Prévision des tendances électorales par le machine learning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68680" y="3657600"/>
            <a:ext cx="2011680" cy="54864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840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4D8"/>
                </a:solidFill>
              </a:rPr>
              <a:t>96 départements · 5 scrutins · holdout 2022 = 0,53 · pipeline ETL reproductible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4C0"/>
                </a:solidFill>
              </a:rPr>
              <a:t>MSPR TPRE813 — Bloc 3 : Piloter l’informatique décisionnel d’un S.I (Big Data &amp; BI)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5E"/>
                </a:solidFill>
              </a:rPr>
              <a:t>Plan de présentation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822960" cy="54864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6565392"/>
            <a:ext cx="3931920" cy="6400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0" y="6565392"/>
            <a:ext cx="338328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6565392"/>
            <a:ext cx="3931920" cy="64008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554480"/>
            <a:ext cx="502920" cy="65836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544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1554480"/>
            <a:ext cx="4297680" cy="658368"/>
          </a:xfrm>
          <a:prstGeom prst="rect">
            <a:avLst/>
          </a:prstGeom>
          <a:solidFill>
            <a:srgbClr val="F2F3F7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5544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E"/>
                </a:solidFill>
              </a:rPr>
              <a:t>Contexte &amp; périmètre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359152"/>
            <a:ext cx="502920" cy="65836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591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43000" y="2359152"/>
            <a:ext cx="4297680" cy="658368"/>
          </a:xfrm>
          <a:prstGeom prst="rect">
            <a:avLst/>
          </a:prstGeom>
          <a:solidFill>
            <a:srgbClr val="F2F3F7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235915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E"/>
                </a:solidFill>
              </a:rPr>
              <a:t>Sources &amp; référentiel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163824"/>
            <a:ext cx="502920" cy="65836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6382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3000" y="3163824"/>
            <a:ext cx="4297680" cy="658368"/>
          </a:xfrm>
          <a:prstGeom prst="rect">
            <a:avLst/>
          </a:prstGeom>
          <a:solidFill>
            <a:srgbClr val="F2F3F7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316382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E"/>
                </a:solidFill>
              </a:rPr>
              <a:t>Architecture &amp; stack techno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3968496"/>
            <a:ext cx="502920" cy="65836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6849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43000" y="3968496"/>
            <a:ext cx="4297680" cy="658368"/>
          </a:xfrm>
          <a:prstGeom prst="rect">
            <a:avLst/>
          </a:prstGeom>
          <a:solidFill>
            <a:srgbClr val="F2F3F7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396849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E"/>
                </a:solidFill>
              </a:rPr>
              <a:t>Pipeline ETL (diagramme)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773168"/>
            <a:ext cx="502920" cy="65836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77316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43000" y="4773168"/>
            <a:ext cx="4297680" cy="658368"/>
          </a:xfrm>
          <a:prstGeom prst="rect">
            <a:avLst/>
          </a:prstGeom>
          <a:solidFill>
            <a:srgbClr val="F2F3F7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47731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E"/>
                </a:solidFill>
              </a:rPr>
              <a:t>Modèle de données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" y="5577840"/>
            <a:ext cx="502920" cy="65836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5778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43000" y="5577840"/>
            <a:ext cx="4297680" cy="658368"/>
          </a:xfrm>
          <a:prstGeom prst="rect">
            <a:avLst/>
          </a:prstGeom>
          <a:solidFill>
            <a:srgbClr val="F2F3F7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55778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E"/>
                </a:solidFill>
              </a:rPr>
              <a:t>Machine Learning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00800" y="1554480"/>
            <a:ext cx="502920" cy="65836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15544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903720" y="1554480"/>
            <a:ext cx="4297680" cy="658368"/>
          </a:xfrm>
          <a:prstGeom prst="rect">
            <a:avLst/>
          </a:prstGeom>
          <a:solidFill>
            <a:srgbClr val="F2F3F7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15544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E"/>
                </a:solidFill>
              </a:rPr>
              <a:t>Résultats &amp; accuracy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400800" y="2359152"/>
            <a:ext cx="502920" cy="65836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23591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903720" y="2359152"/>
            <a:ext cx="4297680" cy="658368"/>
          </a:xfrm>
          <a:prstGeom prst="rect">
            <a:avLst/>
          </a:prstGeom>
          <a:solidFill>
            <a:srgbClr val="F2F3F7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235915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E"/>
                </a:solidFill>
              </a:rPr>
              <a:t>Qualité DQM &amp; Metabase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400800" y="3163824"/>
            <a:ext cx="502920" cy="65836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316382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03720" y="3163824"/>
            <a:ext cx="4297680" cy="658368"/>
          </a:xfrm>
          <a:prstGeom prst="rect">
            <a:avLst/>
          </a:prstGeom>
          <a:solidFill>
            <a:srgbClr val="F2F3F7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40880" y="316382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E"/>
                </a:solidFill>
              </a:rPr>
              <a:t>Visualisations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400800" y="3968496"/>
            <a:ext cx="502920" cy="65836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396849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03720" y="3968496"/>
            <a:ext cx="4297680" cy="658368"/>
          </a:xfrm>
          <a:prstGeom prst="rect">
            <a:avLst/>
          </a:prstGeom>
          <a:solidFill>
            <a:srgbClr val="F2F3F7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40880" y="396849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E"/>
                </a:solidFill>
              </a:rPr>
              <a:t>RGPD &amp; Sécurité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400800" y="4773168"/>
            <a:ext cx="502920" cy="65836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0" y="477316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11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903720" y="4773168"/>
            <a:ext cx="4297680" cy="658368"/>
          </a:xfrm>
          <a:prstGeom prst="rect">
            <a:avLst/>
          </a:prstGeom>
          <a:solidFill>
            <a:srgbClr val="F2F3F7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40880" y="47731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E"/>
                </a:solidFill>
              </a:rPr>
              <a:t>Limites &amp; améliorations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5E"/>
                </a:solidFill>
              </a:rPr>
              <a:t>Contexte &amp; périmètre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822960" cy="54864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6CC"/>
                </a:solidFill>
              </a:rPr>
              <a:t>Besoin client et cadrage du POC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565392"/>
            <a:ext cx="3931920" cy="6400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6565392"/>
            <a:ext cx="338328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6565392"/>
            <a:ext cx="3931920" cy="64008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2F3F7"/>
          </a:solidFill>
          <a:ln w="15875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2821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Besoin client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2194560"/>
            <a:ext cx="320954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Anticiper les tendances électorales à 1–3 ans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À partir d’indicateurs socio-économiques publics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Preuve de concept avant investissement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7680" y="16002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2F3F7"/>
          </a:solidFill>
          <a:ln w="15875">
            <a:solidFill>
              <a:srgbClr val="1B2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72821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E"/>
                </a:solidFill>
              </a:rPr>
              <a:t>Périmètre retenu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98848" y="2194560"/>
            <a:ext cx="320954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96 départements métropolitains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5 scrutins présidentiels (2002–2022)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480 lignes GOLD · 384 obs. ML (avec lag)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Maille unique = jointures fiables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16002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2F3F7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172821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Critères de succès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93608" y="2194560"/>
            <a:ext cx="320954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Holdout 2022 &gt; 0,5 → atteint (0,53)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Pipeline automatisé et reproductible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Livrables SQL / CSV / notebook / viz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Conformité RGPD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5E"/>
                </a:solidFill>
              </a:rPr>
              <a:t>Sources &amp; référentiel de données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822960" cy="54864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6CC"/>
                </a:solidFill>
              </a:rPr>
              <a:t>Contrats Bronze + Licence Ouverte v2.0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565392"/>
            <a:ext cx="3931920" cy="6400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6565392"/>
            <a:ext cx="338328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6565392"/>
            <a:ext cx="3931920" cy="64008"/>
          </a:xfrm>
          <a:prstGeom prst="rect">
            <a:avLst/>
          </a:prstGeom>
          <a:solidFill>
            <a:srgbClr val="E31B23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2014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46120"/>
                <a:gridCol w="2011680"/>
                <a:gridCol w="2743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Contenu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Granularité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Utilisée pour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data.gouv.fr — Présidentielles T1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Résultats → 5 blocs politiques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Département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Variable cible + lag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INSEE — Chômage localisé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Taux trimestriel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Dépt. (trim.)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Chômage N-1, delta 5 ans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INSEE — Emploi salarié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Emploi total trimestriel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Dépt. (trim.)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Emploi/1000 hab, croissance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INSEE — Population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Population annuelle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Dépt. (annuel)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Normalisation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INSEE — Pauvreté (Filosofi)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Taux de pauvreté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Dépt. (annuel)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BI / GOLD (40 % N-1)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INSEE — Créations d’entreprises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Créations pour 10k hab.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Dépt. (annuel)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Dynamisme économique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4754880"/>
            <a:ext cx="11201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5E"/>
                </a:solidFill>
              </a:rPr>
              <a:t>Référentiel : etl/referentiels.py + docs/mspr/03_donnees/REFERENTIEL_DONNEES.md — schémas Bronze, 96 dépts, régions, blocs.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5212080"/>
            <a:ext cx="11201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Pauvreté N−1 : 40 % de complétude GOLD (2017 &amp; 2022, Filosofi historique) — hors features ML (fuite / couverture).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5806440"/>
            <a:ext cx="11201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B2A5E"/>
                </a:solidFill>
              </a:rPr>
              <a:t>✓ Toutes les sources sous Licence Ouverte v2.0 · Aucune donnée personnelle · Agrégation départementale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ulie\Documents\mspr-rattrapage\docs\mspr\02_architecture\diagrams\archi_simplifiee_elect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5E"/>
                </a:solidFill>
              </a:rPr>
              <a:t>Pipeline ETL — diagramme de flux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822960" cy="54864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6CC"/>
                </a:solidFill>
              </a:rPr>
              <a:t>Architecture médailon RAW → Bronze → Silver → Gold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565392"/>
            <a:ext cx="3931920" cy="6400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6565392"/>
            <a:ext cx="338328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6565392"/>
            <a:ext cx="3931920" cy="64008"/>
          </a:xfrm>
          <a:prstGeom prst="rect">
            <a:avLst/>
          </a:prstGeom>
          <a:solidFill>
            <a:srgbClr val="E31B23"/>
          </a:solidFill>
          <a:ln/>
        </p:spPr>
      </p:sp>
      <p:pic>
        <p:nvPicPr>
          <p:cNvPr id="10" name="Image 0" descr="C:\Users\julie\Documents\mspr-rattrapage\docs\mspr\02_architecture\diagrams\flux_etl_medaill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114300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5E"/>
                </a:solidFill>
              </a:rPr>
              <a:t>Couches médailon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822960" cy="54864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6CC"/>
                </a:solidFill>
              </a:rPr>
              <a:t>Rôles Bronze / Silver / Gold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565392"/>
            <a:ext cx="3931920" cy="6400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6565392"/>
            <a:ext cx="338328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6565392"/>
            <a:ext cx="3931920" cy="64008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828800"/>
            <a:ext cx="3337560" cy="3200400"/>
          </a:xfrm>
          <a:prstGeom prst="roundRect">
            <a:avLst>
              <a:gd name="adj" fmla="val 2857"/>
            </a:avLst>
          </a:prstGeom>
          <a:solidFill>
            <a:srgbClr val="F2F3F7"/>
          </a:solidFill>
          <a:ln w="31750">
            <a:solidFill>
              <a:srgbClr val="B87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828800"/>
            <a:ext cx="3337560" cy="54864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28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BRONZE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CSV bruts normalisés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Contrats + manifests JSON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Jamais modifiés après écriture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30632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5E"/>
                </a:solidFill>
              </a:rPr>
              <a:t>→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3337560" cy="3200400"/>
          </a:xfrm>
          <a:prstGeom prst="roundRect">
            <a:avLst>
              <a:gd name="adj" fmla="val 2857"/>
            </a:avLst>
          </a:prstGeom>
          <a:solidFill>
            <a:srgbClr val="F2F3F7"/>
          </a:solidFill>
          <a:ln w="31750">
            <a:solidFill>
              <a:srgbClr val="8A8D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828800"/>
            <a:ext cx="3337560" cy="548640"/>
          </a:xfrm>
          <a:prstGeom prst="rect">
            <a:avLst/>
          </a:prstGeom>
          <a:solidFill>
            <a:srgbClr val="8A8D93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828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SILVER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256032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Typage + déduplication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DQM (16 contrôles)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Agrégats socioeco_annuel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30632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5E"/>
                </a:solidFill>
              </a:rPr>
              <a:t>→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8641080" y="1828800"/>
            <a:ext cx="3337560" cy="3200400"/>
          </a:xfrm>
          <a:prstGeom prst="roundRect">
            <a:avLst>
              <a:gd name="adj" fmla="val 2857"/>
            </a:avLst>
          </a:prstGeom>
          <a:solidFill>
            <a:srgbClr val="F2F3F7"/>
          </a:solidFill>
          <a:ln w="31750">
            <a:solidFill>
              <a:srgbClr val="C9A2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41080" y="1828800"/>
            <a:ext cx="3337560" cy="5486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8641080" y="1828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GOLD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869680" y="256032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1 ligne = 1 (dépt, élection)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Features anti-leakage ≤ N−1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SQLite + KPI + Postgres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2A5E"/>
                </a:solidFill>
              </a:rPr>
              <a:t>Orchestration : run_pipeline.py · tests pytest · suite DQM (dqm/run_checkpoint.py)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5E"/>
                </a:solidFill>
              </a:rPr>
              <a:t>Modèle de données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822960" cy="54864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6CC"/>
                </a:solidFill>
              </a:rPr>
              <a:t>Schéma en étoile — nommage explicite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565392"/>
            <a:ext cx="3931920" cy="6400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6565392"/>
            <a:ext cx="338328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6565392"/>
            <a:ext cx="3931920" cy="64008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4592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2F3F7"/>
          </a:solidFill>
          <a:ln w="15875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7393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Dimensions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2240280"/>
            <a:ext cx="320954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dim_departement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dim_annee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dim_bloc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7680" y="164592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2F3F7"/>
          </a:solidFill>
          <a:ln w="15875">
            <a:solidFill>
              <a:srgbClr val="1B2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77393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E"/>
                </a:solidFill>
              </a:rPr>
              <a:t>Faits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98848" y="2240280"/>
            <a:ext cx="320954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fait_resultat_election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fait_chomage_trimestriel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fait_emploi_trimestriel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164592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2F3F7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177393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Gold (analytique)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93608" y="2240280"/>
            <a:ext cx="320954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gold_dataset_analytique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Dénormalisée pour ML &amp; BI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SQLite indexé : electio_poc.db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5852160"/>
            <a:ext cx="11201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2A5E"/>
                </a:solidFill>
              </a:rPr>
              <a:t>480 lignes GOLD · 384 observations ML · référentiel partagé ETL / SQL / Metabase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5E"/>
                </a:solidFill>
              </a:rPr>
              <a:t>Machine Learning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822960" cy="54864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6CC"/>
                </a:solidFill>
              </a:rPr>
              <a:t>Régression des écarts + scénario national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565392"/>
            <a:ext cx="3931920" cy="6400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6565392"/>
            <a:ext cx="338328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6565392"/>
            <a:ext cx="3931920" cy="64008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2F3F7"/>
          </a:solidFill>
          <a:ln w="15875">
            <a:solidFill>
              <a:srgbClr val="1B2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73936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E"/>
                </a:solidFill>
              </a:rPr>
              <a:t>Protocole rigoureux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2240280"/>
            <a:ext cx="50383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Split temporel : holdout = scrutin 2022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Sélection : walk-forward hors holdout uniquement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CV GroupKFold = métrique secondaire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Features ≤ N−1 (anti-leakage ETL)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2F3F7"/>
          </a:solidFill>
          <a:ln w="15875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77393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4 modèles comparés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27648" y="2240280"/>
            <a:ext cx="517550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Persistance de l’écart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Ridge écart par bloc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Ridge écart multi-sorties — retenu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Forêt écart multi-sorties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5E"/>
                </a:solidFill>
              </a:rPr>
              <a:t>Résultats &amp; accuracy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822960" cy="54864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6CC"/>
                </a:solidFill>
              </a:rPr>
              <a:t>Oracle 0,812 / tendance 0,448 — le modèle sait la carte, pas la vague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565392"/>
            <a:ext cx="3931920" cy="6400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6565392"/>
            <a:ext cx="338328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6565392"/>
            <a:ext cx="3931920" cy="64008"/>
          </a:xfrm>
          <a:prstGeom prst="rect">
            <a:avLst/>
          </a:prstGeom>
          <a:solidFill>
            <a:srgbClr val="E31B23"/>
          </a:solidFill>
          <a:ln/>
        </p:spPr>
      </p:sp>
      <p:pic>
        <p:nvPicPr>
          <p:cNvPr id="10" name="Image 0" descr="C:\Users\julie\Documents\mspr-rattrapage\viz\output\6_model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5852160" cy="3291840"/>
          </a:xfrm>
          <a:prstGeom prst="rect">
            <a:avLst/>
          </a:prstGeom>
        </p:spPr>
      </p:pic>
      <p:pic>
        <p:nvPicPr>
          <p:cNvPr id="11" name="Image 1" descr="C:\Users\julie\Documents\mspr-rattrapage\viz\output\5_confus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63040" y="5029200"/>
            <a:ext cx="3931920" cy="1371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583680" y="1645920"/>
            <a:ext cx="5120640" cy="4754880"/>
          </a:xfrm>
          <a:prstGeom prst="roundRect">
            <a:avLst>
              <a:gd name="adj" fmla="val 1538"/>
            </a:avLst>
          </a:prstGeom>
          <a:solidFill>
            <a:srgbClr val="F2F3F7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83680" y="17739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Chiffres figés (CHIFFRES_FIGES.md)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784848" y="2240280"/>
            <a:ext cx="4718304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Oracle MAE : 1,394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Oracle argmax : 0,812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Tendance argmax : 0,448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Persist. écart oracle : 0,844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Gagnant précédent : 0,521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Socio-éco : 12,8 % importance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Source : data/ml_report.json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5E"/>
                </a:solidFill>
              </a:rPr>
              <a:t>Qualité DQM &amp; restitution Metabase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822960" cy="54864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6CC"/>
                </a:solidFill>
              </a:rPr>
              <a:t>Suite DQM interne + BI jury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565392"/>
            <a:ext cx="3931920" cy="6400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6565392"/>
            <a:ext cx="338328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6565392"/>
            <a:ext cx="3931920" cy="64008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2F3F7"/>
          </a:solidFill>
          <a:ln w="15875">
            <a:solidFill>
              <a:srgbClr val="1B2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2821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E"/>
                </a:solidFill>
              </a:rPr>
              <a:t>Suite DQM exécutable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2194560"/>
            <a:ext cx="508406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Module dqm/ — outil interne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Inspiré du pattern « expectations »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5 contrôles Silver/Gold exécutables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Pas de lib great_expectations installée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Complète pytest + quality_report.txt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make dqm → JSON + HTML de preuve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2F3F7"/>
          </a:solidFill>
          <a:ln w="15875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72821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Metabase (profil Docker bi)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19088" y="2194560"/>
            <a:ext cx="508406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docker compose --profile bi up -d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UI http://localhost:3000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Branche sur Gold / Postgres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Dashboards KPI &amp; exploration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Guide : docs/mspr/05_bi_restitution/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Complète Dash + FastAPI du POC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5E"/>
                </a:solidFill>
              </a:rPr>
              <a:t>Visualisations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822960" cy="54864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6CC"/>
                </a:solidFill>
              </a:rPr>
              <a:t>Exploration &amp; restitution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565392"/>
            <a:ext cx="3931920" cy="6400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6565392"/>
            <a:ext cx="338328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6565392"/>
            <a:ext cx="3931920" cy="64008"/>
          </a:xfrm>
          <a:prstGeom prst="rect">
            <a:avLst/>
          </a:prstGeom>
          <a:solidFill>
            <a:srgbClr val="E31B23"/>
          </a:solidFill>
          <a:ln/>
        </p:spPr>
      </p:sp>
      <p:pic>
        <p:nvPicPr>
          <p:cNvPr id="10" name="Image 0" descr="C:\Users\julie\Documents\mspr-rattrapage\viz\output\1_evolution_blo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5486400" cy="3044952"/>
          </a:xfrm>
          <a:prstGeom prst="rect">
            <a:avLst/>
          </a:prstGeom>
        </p:spPr>
      </p:pic>
      <p:pic>
        <p:nvPicPr>
          <p:cNvPr id="11" name="Image 1" descr="C:\Users\julie\Documents\mspr-rattrapage\viz\output\3_correla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4572000" cy="3712464"/>
          </a:xfrm>
          <a:prstGeom prst="rect">
            <a:avLst/>
          </a:prstGeom>
        </p:spPr>
      </p:pic>
      <p:pic>
        <p:nvPicPr>
          <p:cNvPr id="12" name="Image 2" descr="C:\Users\julie\Documents\mspr-rattrapage\viz\output\4_chomage_par_blo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54880"/>
            <a:ext cx="457200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5E"/>
                </a:solidFill>
              </a:rPr>
              <a:t>Scale-out production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822960" cy="54864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6CC"/>
                </a:solidFill>
              </a:rPr>
              <a:t>Airflow + partitionnement Spark (cible)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565392"/>
            <a:ext cx="3931920" cy="6400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6565392"/>
            <a:ext cx="338328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6565392"/>
            <a:ext cx="3931920" cy="64008"/>
          </a:xfrm>
          <a:prstGeom prst="rect">
            <a:avLst/>
          </a:prstGeom>
          <a:solidFill>
            <a:srgbClr val="E31B23"/>
          </a:solidFill>
          <a:ln/>
        </p:spPr>
      </p:sp>
      <p:pic>
        <p:nvPicPr>
          <p:cNvPr id="10" name="Image 0" descr="C:\Users\julie\Documents\mspr-rattrapage\docs\mspr\02_architecture\diagrams\scale_o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417320"/>
            <a:ext cx="10058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5E"/>
                </a:solidFill>
              </a:rPr>
              <a:t>RGPD &amp; Sécurité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822960" cy="54864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6565392"/>
            <a:ext cx="3931920" cy="6400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0" y="6565392"/>
            <a:ext cx="338328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6565392"/>
            <a:ext cx="3931920" cy="64008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2F3F7"/>
          </a:solidFill>
          <a:ln w="15875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73936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Conformité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" y="2240280"/>
            <a:ext cx="50383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Données publiques agrégées : aucune donnée personnelle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Aucun risque de ré-identification (maille dépt.)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Licence Ouverte v2.0 — sources mentionnées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2F3F7"/>
          </a:solidFill>
          <a:ln w="15875">
            <a:solidFill>
              <a:srgbClr val="1B2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77393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E"/>
                </a:solidFill>
              </a:rPr>
              <a:t>Traçabilité &amp; bonnes pratiques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2240280"/>
            <a:ext cx="517550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Couche BRONZE immuable + journal qualité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Tests automatisés + suite DQM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Extension opinion/réseaux sociaux → AIPD préalable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5E"/>
                </a:solidFill>
              </a:rPr>
              <a:t>Limites &amp; axes d’amélioration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822960" cy="54864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6565392"/>
            <a:ext cx="3931920" cy="64008"/>
          </a:xfrm>
          <a:prstGeom prst="rect">
            <a:avLst/>
          </a:prstGeom>
          <a:solidFill>
            <a:srgbClr val="1B2A5E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0" y="6565392"/>
            <a:ext cx="338328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6565392"/>
            <a:ext cx="3931920" cy="64008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2F3F7"/>
          </a:solidFill>
          <a:ln w="15875">
            <a:solidFill>
              <a:srgbClr val="E31B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73936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1B23"/>
                </a:solidFill>
              </a:rPr>
              <a:t>Limites assumées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" y="2240280"/>
            <a:ext cx="50383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Modèle socio-éco : ignore campagne &amp; offre politique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Capte des tendances de fond, pas l’issue exacte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POC = méthode + industrialisation démontrées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2F3F7"/>
          </a:solidFill>
          <a:ln w="15875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77393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Améliorations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2240280"/>
            <a:ext cx="517550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Enrichir : sécurité, démographie, infra-départemental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Modèles séquentiels + intervalles de confiance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Orchestration Airflow, Metabase en prod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Merci — Questions 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68680" y="3749040"/>
            <a:ext cx="2011680" cy="54864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4D8"/>
                </a:solidFill>
              </a:rPr>
              <a:t>POC Electio-Analytics · MSPR TPRE813 · holdout 0,53 · DQM + Metabase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2026-09-08T21:03:20Z</dcterms:created>
  <dcterms:modified xsi:type="dcterms:W3CDTF">2026-09-08T21:03:20Z</dcterms:modified>
</cp:coreProperties>
</file>