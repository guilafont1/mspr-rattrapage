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POC Electio-Analytics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6DCF0"/>
                </a:solidFill>
              </a:rPr>
              <a:t>Prévision des tendances électorales par le machine learning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68680" y="365760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96 départements · 5 scrutins · pipeline ETL reproductible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4C0"/>
                </a:solidFill>
              </a:rPr>
              <a:t>MSPR TPRE813 — Bloc 3 : Piloter l’informatique décisionnel d’un S.I (Big Data &amp; BI)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Plan de présentation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6916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3000" y="169164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169164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Contexte &amp; périmètre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262432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2432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143000" y="262432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262432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Sources de données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55701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55701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43000" y="355701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355701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Pipeline ETL (médaillon)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48970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8970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43000" y="448970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448970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Modèle de données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5422392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42239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143000" y="5422392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542239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Machine Learning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400800" y="169164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6916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03720" y="169164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169164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Résultats &amp; accuracy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00800" y="262432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262432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903720" y="262432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0" y="262432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Visualisations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0" y="355701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0" y="355701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903720" y="355701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0" y="355701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RGPD &amp; Sécurité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400800" y="448970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0" y="448970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03720" y="448970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448970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Limites &amp; améliorations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Contexte &amp; périmètre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Besoin client et cadrage du POC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Besoin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Anticiper les tendances électorales à 1–3 ans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À partir d’indicateurs socio-économiques publics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Preuve de concept avant investissement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Périmètre retenu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96 départements métropolitains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5 scrutins présidentiels (2002–2022)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384 observations exploitables : volume nécessaire au ML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Maille unique = jointures fiables, traçabilité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Critères de succès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Accuracy &gt; 0,5 sur le jeu de test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Pipeline automatisé et reproductible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Livrables SQL / CSV / notebook / visualisations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Conformité RGPD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Sources de données retenues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Collecte — couche BRONZE (Licence Ouverte v2.0)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46120"/>
                <a:gridCol w="201168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Contenu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Granularité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Utilisée pour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data.gouv.fr — Présidentielles T1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Résultats → 5 blocs politiques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Département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Variable cible + lag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INSEE — Chômage localisé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Taux trimestriel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Chômage N-1, delta 5 ans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INSEE — Emploi salarié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Emploi total trimestriel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Emploi/1000 hab, croissance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INSEE — Population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Population annuelle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Normalisation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INSEE — Pauvreté (Filosofi)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Taux de pauvreté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Tension sociale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INSEE — Créations d’entreprises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Créations pour 10k hab.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Dynamisme économique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580644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2A5E"/>
                </a:solidFill>
              </a:rPr>
              <a:t>✓ Toutes les sources sous Licence Ouverte v2.0 · Aucune donnée personnelle · Agrégation départementale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Pipeline ETL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Architecture médaillon Bronze → Silver → Gold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B87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CSV bruts data.gouv / INSEE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Jamais modifiés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Traçabilité totale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466344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8A8D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solidFill>
            <a:srgbClr val="8A8D93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9204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Typage + déduplication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Contrôles de bornes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Journal qualité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0100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864108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1 ligne = 1 (dépt, élection)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Features anti-leakage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SQLite + CSV indexés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Orchestration : run_pipeline.py enchaîne les étapes · tests automatisés (pytest) · anti data-leakage garanti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Modèle de données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Schéma en étoile — nommage explicite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Dimensions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dim_departement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dim_annee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(clés de référence)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Faits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fait_resultat_election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fait_chomage_trimestriel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fait_emploi_trimestriel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Gold (analytique)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gold_dataset_analytique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Dénormalisée pour ML &amp; BI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SQLite indexé : electio_poc.db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85216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384 observations · 96 départements × élections · 6 indicateurs + lag politique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Machine Learning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Classification supervisée du bloc en tête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Protocole rigoureux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Split temporel : test = scrutin le plus récent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Validation croisée GroupKFold par département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Un dépt jamais en train ET en test (anti-leakage)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Métriques : accuracy + F1 macro (classes déséquilibrées)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5 modèles comparés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Baseline (classe majoritaire) — référence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Régression logistique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Arbre de décision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Random Forest (fort en CV géo)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Gradient Boosting — retenu (walk-forward)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Résultats &amp; accuracy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Gradient Boosting — holdout 2022 = 0,53 (données réelles)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amine\Downloads\POC_ElectioAnalytics_projet_complet\viz\output\6_model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45920"/>
            <a:ext cx="5852160" cy="3291840"/>
          </a:xfrm>
          <a:prstGeom prst="rect">
            <a:avLst/>
          </a:prstGeom>
        </p:spPr>
      </p:pic>
      <p:pic>
        <p:nvPicPr>
          <p:cNvPr id="11" name="Image 1" descr="C:\Users\amine\Downloads\POC_ElectioAnalytics_projet_complet\viz\output\5_confus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463040" y="5029200"/>
            <a:ext cx="3931920" cy="1371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583680" y="16459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0" y="17739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Métriques clés (données réelles)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784848" y="2240280"/>
            <a:ext cx="4718304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Holdout 2022 : 0,53 (&gt; 0,5)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Walk-forward : 0,37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CV géo secondaire : 0,72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Baseline CV : 0,41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Sélection temporelle (pas stickiness RF)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Top feature : pct gagnant précédent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Pauvreté : 40 % GOLD, hors modèle ML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Visualisations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Exploration &amp; restitution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amine\Downloads\POC_ElectioAnalytics_projet_complet\viz\output\1_evolution_blo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486400" cy="3044952"/>
          </a:xfrm>
          <a:prstGeom prst="rect">
            <a:avLst/>
          </a:prstGeom>
        </p:spPr>
      </p:pic>
      <p:pic>
        <p:nvPicPr>
          <p:cNvPr id="11" name="Image 1" descr="C:\Users\amine\Downloads\POC_ElectioAnalytics_projet_complet\viz\output\3_correl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4572000" cy="3712464"/>
          </a:xfrm>
          <a:prstGeom prst="rect">
            <a:avLst/>
          </a:prstGeom>
        </p:spPr>
      </p:pic>
      <p:pic>
        <p:nvPicPr>
          <p:cNvPr id="12" name="Image 2" descr="C:\Users\amine\Downloads\POC_ElectioAnalytics_projet_complet\viz\output\4_chomage_par_blo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754880"/>
            <a:ext cx="45720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RGPD &amp; Sécurité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Conformité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Données publiques agrégées : aucune donnée personnelle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Aucun risque de ré-identification (maille dépt.)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Licence Ouverte v2.0 — sources mentionnées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Traçabilité &amp; bonnes pratiques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Couche BRONZE immuable + journal qualité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Tests automatisés + code versionné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Extension opinion/réseaux sociaux → AIPD préalable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Limites &amp; axes d’amélioration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E31B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B23"/>
                </a:solidFill>
              </a:rPr>
              <a:t>Limites assumées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 socio-éco : ignore campagne &amp; offre politique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Capte des tendances de fond, pas l’issue exacte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POC = méthode + industrialisation démontrées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Améliorations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Enrichir : sécurité, démographie, infra-départemental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Modèles séquentiels + intervalles de confiance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Orchestration Airflow, dashboard PowerBI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Merci — Questions 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68680" y="374904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977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POC Electio-Analytics · MSPR TPRE813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2026-07-30T13:55:37Z</dcterms:created>
  <dcterms:modified xsi:type="dcterms:W3CDTF">2026-07-30T13:55:37Z</dcterms:modified>
</cp:coreProperties>
</file>